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>
      <p:cViewPr varScale="1">
        <p:scale>
          <a:sx n="74" d="100"/>
          <a:sy n="74" d="100"/>
        </p:scale>
        <p:origin x="72" y="1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37893-DF50-48FC-8865-60FD8B8FC52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05F61-27B2-4505-A739-51FDF9695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85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05F61-27B2-4505-A739-51FDF9695C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24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6037" y="0"/>
            <a:ext cx="1965962" cy="56899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5802" cy="573932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3875476"/>
            <a:ext cx="12186285" cy="2982595"/>
          </a:xfrm>
          <a:custGeom>
            <a:avLst/>
            <a:gdLst/>
            <a:ahLst/>
            <a:cxnLst/>
            <a:rect l="l" t="t" r="r" b="b"/>
            <a:pathLst>
              <a:path w="12186285" h="2982595">
                <a:moveTo>
                  <a:pt x="0" y="2982599"/>
                </a:moveTo>
                <a:lnTo>
                  <a:pt x="0" y="0"/>
                </a:lnTo>
                <a:lnTo>
                  <a:pt x="12185699" y="0"/>
                </a:lnTo>
                <a:lnTo>
                  <a:pt x="12185699" y="2982523"/>
                </a:lnTo>
                <a:lnTo>
                  <a:pt x="0" y="2982599"/>
                </a:lnTo>
                <a:close/>
              </a:path>
            </a:pathLst>
          </a:custGeom>
          <a:solidFill>
            <a:srgbClr val="953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15721" y="0"/>
            <a:ext cx="2376273" cy="513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6067" y="475805"/>
            <a:ext cx="757986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5687" y="1609345"/>
            <a:ext cx="10641330" cy="1976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37998" y="6278489"/>
            <a:ext cx="4923790" cy="534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82625" y="6466765"/>
            <a:ext cx="73596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29591" y="6466765"/>
            <a:ext cx="218211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4600" y="711999"/>
            <a:ext cx="6806173" cy="3121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632423"/>
                </a:solidFill>
                <a:latin typeface="Times New Roman"/>
                <a:cs typeface="Times New Roman"/>
              </a:rPr>
              <a:t>&lt;</a:t>
            </a:r>
            <a:r>
              <a:rPr lang="en-IN" sz="5400" b="1" dirty="0" err="1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Btech</a:t>
            </a:r>
            <a:r>
              <a:rPr lang="en-IN" sz="5400" b="1" dirty="0">
                <a:solidFill>
                  <a:srgbClr val="632423"/>
                </a:solidFill>
                <a:latin typeface="Times New Roman"/>
                <a:cs typeface="Times New Roman"/>
              </a:rPr>
              <a:t> - CSE</a:t>
            </a:r>
            <a:r>
              <a:rPr sz="5400" b="1" spc="-10" dirty="0">
                <a:solidFill>
                  <a:srgbClr val="632423"/>
                </a:solidFill>
                <a:latin typeface="Times New Roman"/>
                <a:cs typeface="Times New Roman"/>
              </a:rPr>
              <a:t>&gt;</a:t>
            </a:r>
            <a:endParaRPr sz="5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632423"/>
                </a:solidFill>
                <a:latin typeface="Times New Roman"/>
                <a:cs typeface="Times New Roman"/>
              </a:rPr>
              <a:t>&lt;</a:t>
            </a:r>
            <a:r>
              <a:rPr lang="en-IN" sz="5400" b="1" dirty="0">
                <a:solidFill>
                  <a:srgbClr val="632423"/>
                </a:solidFill>
                <a:latin typeface="Times New Roman"/>
                <a:cs typeface="Times New Roman"/>
              </a:rPr>
              <a:t>1010103494</a:t>
            </a:r>
            <a:r>
              <a:rPr sz="5400" b="1" spc="-10" dirty="0">
                <a:solidFill>
                  <a:srgbClr val="632423"/>
                </a:solidFill>
                <a:latin typeface="Times New Roman"/>
                <a:cs typeface="Times New Roman"/>
              </a:rPr>
              <a:t>&gt;</a:t>
            </a:r>
            <a:endParaRPr sz="54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5400" b="1" spc="-10" dirty="0">
                <a:solidFill>
                  <a:srgbClr val="632423"/>
                </a:solidFill>
                <a:latin typeface="Times New Roman"/>
                <a:cs typeface="Times New Roman"/>
              </a:rPr>
              <a:t>&lt;</a:t>
            </a:r>
            <a:r>
              <a:rPr lang="en-IN" sz="5400" b="1" spc="-10" dirty="0">
                <a:solidFill>
                  <a:srgbClr val="632423"/>
                </a:solidFill>
                <a:latin typeface="Times New Roman"/>
                <a:cs typeface="Times New Roman"/>
              </a:rPr>
              <a:t> </a:t>
            </a:r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TrustShield AI: AI-Based Scam Detection Platform </a:t>
            </a:r>
            <a:r>
              <a:rPr sz="4000" b="1" spc="-10" dirty="0">
                <a:solidFill>
                  <a:srgbClr val="632423"/>
                </a:solidFill>
                <a:latin typeface="Times New Roman"/>
                <a:cs typeface="Times New Roman"/>
              </a:rPr>
              <a:t>&gt;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98992" y="0"/>
            <a:ext cx="3292997" cy="711999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338830"/>
              </p:ext>
            </p:extLst>
          </p:nvPr>
        </p:nvGraphicFramePr>
        <p:xfrm>
          <a:off x="1032049" y="4057274"/>
          <a:ext cx="10019030" cy="2663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3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Project</a:t>
                      </a:r>
                      <a:r>
                        <a:rPr sz="2300" b="1" spc="-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3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ID</a:t>
                      </a:r>
                      <a:endParaRPr sz="2300" dirty="0">
                        <a:latin typeface="Cambria"/>
                        <a:cs typeface="Cambri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3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3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CSE_M2_02</a:t>
                      </a:r>
                      <a:endParaRPr sz="3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Enrollment</a:t>
                      </a:r>
                      <a:r>
                        <a:rPr sz="2300" b="1" spc="-7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3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No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3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3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2301031800122</a:t>
                      </a:r>
                      <a:endParaRPr sz="3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3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3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3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Devanshi </a:t>
                      </a:r>
                      <a:r>
                        <a:rPr lang="en-IN" sz="3400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Barbhaya</a:t>
                      </a:r>
                      <a:endParaRPr sz="3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3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Branch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3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3400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Btech</a:t>
                      </a:r>
                      <a:r>
                        <a:rPr lang="en-IN" sz="3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- CSE</a:t>
                      </a:r>
                      <a:endParaRPr sz="3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3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Guide</a:t>
                      </a:r>
                      <a:r>
                        <a:rPr sz="2300" b="1" spc="-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300" b="1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3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3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Ms. Jenice Bhavsar</a:t>
                      </a:r>
                      <a:endParaRPr sz="3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6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Index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5687" y="1537818"/>
            <a:ext cx="5832475" cy="41871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30835" indent="-318135">
              <a:lnSpc>
                <a:spcPct val="100000"/>
              </a:lnSpc>
              <a:spcBef>
                <a:spcPts val="355"/>
              </a:spcBef>
              <a:buChar char="•"/>
              <a:tabLst>
                <a:tab pos="330835" algn="l"/>
              </a:tabLst>
            </a:pPr>
            <a:r>
              <a:rPr sz="3200" spc="-10" dirty="0">
                <a:latin typeface="Cambria"/>
                <a:cs typeface="Cambria"/>
              </a:rPr>
              <a:t>Introduction</a:t>
            </a:r>
            <a:endParaRPr sz="3200" dirty="0">
              <a:latin typeface="Cambria"/>
              <a:cs typeface="Cambria"/>
            </a:endParaRPr>
          </a:p>
          <a:p>
            <a:pPr marL="330835" indent="-318135">
              <a:lnSpc>
                <a:spcPct val="100000"/>
              </a:lnSpc>
              <a:spcBef>
                <a:spcPts val="254"/>
              </a:spcBef>
              <a:buChar char="•"/>
              <a:tabLst>
                <a:tab pos="330835" algn="l"/>
              </a:tabLst>
            </a:pPr>
            <a:r>
              <a:rPr sz="3200" spc="-10" dirty="0">
                <a:latin typeface="Cambria"/>
                <a:cs typeface="Cambria"/>
              </a:rPr>
              <a:t>Background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and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Motivation</a:t>
            </a:r>
            <a:endParaRPr sz="3200" dirty="0">
              <a:latin typeface="Cambria"/>
              <a:cs typeface="Cambria"/>
            </a:endParaRPr>
          </a:p>
          <a:p>
            <a:pPr marL="330835" indent="-318135">
              <a:lnSpc>
                <a:spcPct val="100000"/>
              </a:lnSpc>
              <a:spcBef>
                <a:spcPts val="254"/>
              </a:spcBef>
              <a:buChar char="•"/>
              <a:tabLst>
                <a:tab pos="330835" algn="l"/>
              </a:tabLst>
            </a:pPr>
            <a:r>
              <a:rPr sz="3200" spc="-10" dirty="0">
                <a:latin typeface="Cambria"/>
                <a:cs typeface="Cambria"/>
              </a:rPr>
              <a:t>Relevance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and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Importance</a:t>
            </a:r>
            <a:endParaRPr sz="3200" dirty="0">
              <a:latin typeface="Cambria"/>
              <a:cs typeface="Cambria"/>
            </a:endParaRPr>
          </a:p>
          <a:p>
            <a:pPr marL="330835" indent="-318135">
              <a:lnSpc>
                <a:spcPct val="100000"/>
              </a:lnSpc>
              <a:spcBef>
                <a:spcPts val="254"/>
              </a:spcBef>
              <a:buChar char="•"/>
              <a:tabLst>
                <a:tab pos="330835" algn="l"/>
              </a:tabLst>
            </a:pPr>
            <a:r>
              <a:rPr sz="3200" spc="-10" dirty="0">
                <a:latin typeface="Cambria"/>
                <a:cs typeface="Cambria"/>
              </a:rPr>
              <a:t>Literature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review</a:t>
            </a:r>
            <a:endParaRPr sz="3200" dirty="0">
              <a:latin typeface="Cambria"/>
              <a:cs typeface="Cambria"/>
            </a:endParaRPr>
          </a:p>
          <a:p>
            <a:pPr marL="330835" indent="-318135">
              <a:lnSpc>
                <a:spcPct val="100000"/>
              </a:lnSpc>
              <a:spcBef>
                <a:spcPts val="259"/>
              </a:spcBef>
              <a:buChar char="•"/>
              <a:tabLst>
                <a:tab pos="330835" algn="l"/>
              </a:tabLst>
            </a:pPr>
            <a:r>
              <a:rPr sz="3200" spc="-10" dirty="0">
                <a:latin typeface="Cambria"/>
                <a:cs typeface="Cambria"/>
              </a:rPr>
              <a:t>Objectives</a:t>
            </a:r>
            <a:endParaRPr sz="3200" dirty="0">
              <a:latin typeface="Cambria"/>
              <a:cs typeface="Cambria"/>
            </a:endParaRPr>
          </a:p>
          <a:p>
            <a:pPr marL="330835" indent="-318135">
              <a:lnSpc>
                <a:spcPct val="100000"/>
              </a:lnSpc>
              <a:spcBef>
                <a:spcPts val="254"/>
              </a:spcBef>
              <a:buChar char="•"/>
              <a:tabLst>
                <a:tab pos="330835" algn="l"/>
              </a:tabLst>
            </a:pPr>
            <a:r>
              <a:rPr sz="3200" dirty="0">
                <a:latin typeface="Cambria"/>
                <a:cs typeface="Cambria"/>
              </a:rPr>
              <a:t>Required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Tools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and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Technology</a:t>
            </a:r>
            <a:endParaRPr sz="3200" dirty="0">
              <a:latin typeface="Cambria"/>
              <a:cs typeface="Cambria"/>
            </a:endParaRPr>
          </a:p>
          <a:p>
            <a:pPr marL="330835" indent="-318135">
              <a:lnSpc>
                <a:spcPct val="100000"/>
              </a:lnSpc>
              <a:spcBef>
                <a:spcPts val="254"/>
              </a:spcBef>
              <a:buChar char="•"/>
              <a:tabLst>
                <a:tab pos="330835" algn="l"/>
              </a:tabLst>
            </a:pPr>
            <a:r>
              <a:rPr sz="3200" dirty="0">
                <a:latin typeface="Cambria"/>
                <a:cs typeface="Cambria"/>
              </a:rPr>
              <a:t>Method/</a:t>
            </a:r>
            <a:r>
              <a:rPr sz="3200" spc="-16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Approach</a:t>
            </a:r>
            <a:endParaRPr sz="3200" dirty="0">
              <a:latin typeface="Cambria"/>
              <a:cs typeface="Cambria"/>
            </a:endParaRPr>
          </a:p>
          <a:p>
            <a:pPr marL="330835" indent="-318135">
              <a:lnSpc>
                <a:spcPct val="100000"/>
              </a:lnSpc>
              <a:spcBef>
                <a:spcPts val="254"/>
              </a:spcBef>
              <a:buChar char="•"/>
              <a:tabLst>
                <a:tab pos="330835" algn="l"/>
              </a:tabLst>
            </a:pPr>
            <a:r>
              <a:rPr sz="3200" spc="-10" dirty="0">
                <a:latin typeface="Cambria"/>
                <a:cs typeface="Cambria"/>
              </a:rPr>
              <a:t>Bibliography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625" y="6428677"/>
            <a:ext cx="735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10-09-2025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06733" y="642867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5000" y="255581"/>
            <a:ext cx="7579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58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962400" y="6348240"/>
            <a:ext cx="4572602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0B2AE-3AC8-4BDF-9E70-C43336DCC628}"/>
              </a:ext>
            </a:extLst>
          </p:cNvPr>
          <p:cNvSpPr txBox="1"/>
          <p:nvPr/>
        </p:nvSpPr>
        <p:spPr>
          <a:xfrm>
            <a:off x="301906" y="1295400"/>
            <a:ext cx="1158818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Online scams are rising rapidly through WhatsApp, email, fake job offers, and fraudulent loan messages.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Students and elderly users are the most affected due to limited technical awareness.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tools are single-purpose (only email filters OR only URL scanners) — no unified solution exists.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QR codes are an emerging scam vector ("quishing") — fake payment QR stickers, fraudulent parking/toll QR codes, WhatsApp-forwarded QR images — and almost no consumer tool checks these at all.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TrustShield AI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proposes a single AI-powered platform with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three input modes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paste suspicious text, paste a suspicious link, or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upload a photo of a QR code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— all checked for scam risk.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7400" y="432415"/>
            <a:ext cx="7579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09">
              <a:lnSpc>
                <a:spcPct val="100000"/>
              </a:lnSpc>
              <a:spcBef>
                <a:spcPts val="100"/>
              </a:spcBef>
            </a:pPr>
            <a:r>
              <a:rPr dirty="0"/>
              <a:t>Background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COMPUTER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ENGINEERING</a:t>
            </a:r>
          </a:p>
          <a:p>
            <a:pPr algn="ctr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*Proprietary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material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SILVER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OAK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UNIVERSITY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044BD-FE83-D332-89F2-15105CE7142F}"/>
              </a:ext>
            </a:extLst>
          </p:cNvPr>
          <p:cNvSpPr txBox="1"/>
          <p:nvPr/>
        </p:nvSpPr>
        <p:spPr>
          <a:xfrm>
            <a:off x="361950" y="1676400"/>
            <a:ext cx="11468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Digital fraud in India has grown sharply with UPI, online job portals, and instant-loan apps.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Common scam types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phishing links, fake job offers (asking for registration fees), fraudulent instant-loan apps, lottery/prize scams, and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QR-code scams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— fake UPI payment QR codes swapped at shops, malicious QR stickers on parking/toll machines, "scan to claim prize" QR codes in WhatsApp forwards.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Elderly and students are frequent victims due to trust in "official-looking" messages and QR codes, which most people assume are inherently safe simply because they look like a standard payment/scan code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build an accessible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explainable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low-cost AI tool that acts as a "first line of defense" before a user clicks a link or shares personal information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600" y="540704"/>
            <a:ext cx="7579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Relevance</a:t>
            </a:r>
            <a:r>
              <a:rPr spc="-130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10" dirty="0"/>
              <a:t>Importance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0"/>
              </a:lnSpc>
            </a:pPr>
            <a:r>
              <a:rPr dirty="0"/>
              <a:t>DEPARTMENT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*Proprietary</a:t>
            </a:r>
            <a:r>
              <a:rPr spc="-35" dirty="0"/>
              <a:t> </a:t>
            </a:r>
            <a:r>
              <a:rPr dirty="0"/>
              <a:t>material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SILVER</a:t>
            </a:r>
            <a:r>
              <a:rPr spc="-30" dirty="0"/>
              <a:t> </a:t>
            </a:r>
            <a:r>
              <a:rPr dirty="0"/>
              <a:t>OAK</a:t>
            </a:r>
            <a:r>
              <a:rPr spc="-3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5832F-D949-A4B6-8D8E-577A6BB40330}"/>
              </a:ext>
            </a:extLst>
          </p:cNvPr>
          <p:cNvSpPr txBox="1"/>
          <p:nvPr/>
        </p:nvSpPr>
        <p:spPr>
          <a:xfrm>
            <a:off x="304800" y="1646399"/>
            <a:ext cx="11582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Who benefits: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Students, elderly individuals, first-time internet/smartphone users, small business owners.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New insight contributed: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 single explainable framework that unifies multi-class text scam classification, URL lexical + reputation-based risk scoring, and QR-code scam detection via image upload — three attack surfaces, one platform.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Why it matters: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Reduces financial fraud losses, increases digital literacy, provides a free/low-cost alternative to enterprise-grade fraud tools.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Aligns with India's growing digital-payments and gig-economy ecosystem, where scam exposure is increasing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600" y="189905"/>
            <a:ext cx="7579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639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245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0"/>
              </a:lnSpc>
            </a:pPr>
            <a:r>
              <a:rPr dirty="0"/>
              <a:t>DEPARTMENT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*Proprietary</a:t>
            </a:r>
            <a:r>
              <a:rPr spc="-35" dirty="0"/>
              <a:t> </a:t>
            </a:r>
            <a:r>
              <a:rPr dirty="0"/>
              <a:t>material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SILVER</a:t>
            </a:r>
            <a:r>
              <a:rPr spc="-30" dirty="0"/>
              <a:t> </a:t>
            </a:r>
            <a:r>
              <a:rPr dirty="0"/>
              <a:t>OAK</a:t>
            </a:r>
            <a:r>
              <a:rPr spc="-3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80C6B3-C4FE-222D-E1CF-92EC4B2AF4E3}"/>
              </a:ext>
            </a:extLst>
          </p:cNvPr>
          <p:cNvSpPr txBox="1"/>
          <p:nvPr/>
        </p:nvSpPr>
        <p:spPr>
          <a:xfrm>
            <a:off x="152400" y="1033474"/>
            <a:ext cx="1181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Phishing email detection has been studied using both machine learning and deep learning (CNN, LSTM, BERT) techniques (Sasirekha et al., 2023; Divakarla &amp; Chandrasekaran, 2023).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Fake job posting detection has been explored using the EMSCAD dataset — Random Forest achieved up to 96.8% accuracy (IJRPR, 2024), while earlier LSTM-based approaches reached 89% accuracy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Vidros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et al., 2017).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Malicious URL detection has been shown to work effectively using lightweight lexical features, without needing to crawl the destination site (Joshi et al., 2019).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QR-code phishing ("quishing") detection is an emerging research area — Trad &amp; Chehab (2025) introduced the first framework to detect quishing by analyzing QR pixel-level structural patterns directly, without decoding the payload, achieving an AUC of 0.9106.</a:t>
            </a: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 2026 systematic review confirmed quishing as a fast-growing, understudied threat that bypasses traditional email/URL filters entirely.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Research Gap: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Each of these studies addresses only one scam channel in isolation — email, job postings, URLs, or QR codes. None combine text, link, and QR-based scam detection into a single accessible, explainable platform — this is the gap TrustShield AI aims to fill.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7400" y="195804"/>
            <a:ext cx="7579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14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0"/>
              </a:lnSpc>
            </a:pPr>
            <a:r>
              <a:rPr dirty="0"/>
              <a:t>DEPARTMENT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*Proprietary</a:t>
            </a:r>
            <a:r>
              <a:rPr spc="-35" dirty="0"/>
              <a:t> </a:t>
            </a:r>
            <a:r>
              <a:rPr dirty="0"/>
              <a:t>material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SILVER</a:t>
            </a:r>
            <a:r>
              <a:rPr spc="-30" dirty="0"/>
              <a:t> </a:t>
            </a:r>
            <a:r>
              <a:rPr dirty="0"/>
              <a:t>OAK</a:t>
            </a:r>
            <a:r>
              <a:rPr spc="-3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74948-CE08-2837-443F-2AEBC7046124}"/>
              </a:ext>
            </a:extLst>
          </p:cNvPr>
          <p:cNvSpPr txBox="1"/>
          <p:nvPr/>
        </p:nvSpPr>
        <p:spPr>
          <a:xfrm>
            <a:off x="304800" y="1091698"/>
            <a:ext cx="1158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To design a multi-class text classifier that detects phishing, fake job offers, and fraudulent loan scheme messages.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To build a URL risk scanner combining lexical analysis with real-time threat-database reputation checks.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To build a QR-code scam detection module that accepts an uploaded image, decodes the embedded QR payload, and routes it through the URL scanner — while also flagging structurally suspicious QR codes even before decoding.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To integrate all three modules (text, URL, QR/image) into a single, unified, easy-to-use platform.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To provide explainable output (reasons behind each verdict) rather than a simple binary label.</a:t>
            </a:r>
          </a:p>
          <a:p>
            <a:pPr lvl="0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To deploy the system using a serverless, free-tier-compatible architecture for cost efficiency and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98703" y="135086"/>
            <a:ext cx="7579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Required</a:t>
            </a:r>
            <a:r>
              <a:rPr spc="-120" dirty="0"/>
              <a:t> </a:t>
            </a:r>
            <a:r>
              <a:rPr dirty="0"/>
              <a:t>Tools</a:t>
            </a:r>
            <a:r>
              <a:rPr spc="-120" dirty="0"/>
              <a:t> </a:t>
            </a:r>
            <a:r>
              <a:rPr dirty="0"/>
              <a:t>and</a:t>
            </a:r>
            <a:r>
              <a:rPr spc="-12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3527425" y="6559394"/>
            <a:ext cx="45427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*Proprietary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material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SILVER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OAK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UNIVERSITY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7425" y="6227925"/>
            <a:ext cx="412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DEPARTMENT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ENGINEERING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56D6510-11B3-C4A8-A266-EEAEE426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95" y="974198"/>
            <a:ext cx="8944610" cy="5094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28800" y="177768"/>
            <a:ext cx="7579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3205">
              <a:lnSpc>
                <a:spcPct val="100000"/>
              </a:lnSpc>
              <a:spcBef>
                <a:spcPts val="100"/>
              </a:spcBef>
            </a:pPr>
            <a:r>
              <a:rPr dirty="0"/>
              <a:t>Method/</a:t>
            </a:r>
            <a:r>
              <a:rPr spc="-204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0"/>
              </a:lnSpc>
            </a:pPr>
            <a:r>
              <a:rPr dirty="0"/>
              <a:t>DEPARTMENT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*Proprietary</a:t>
            </a:r>
            <a:r>
              <a:rPr spc="-35" dirty="0"/>
              <a:t> </a:t>
            </a:r>
            <a:r>
              <a:rPr dirty="0"/>
              <a:t>material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SILVER</a:t>
            </a:r>
            <a:r>
              <a:rPr spc="-30" dirty="0"/>
              <a:t> </a:t>
            </a:r>
            <a:r>
              <a:rPr dirty="0"/>
              <a:t>OAK</a:t>
            </a:r>
            <a:r>
              <a:rPr spc="-3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80F58-58BD-CE2C-E927-A571E4827579}"/>
              </a:ext>
            </a:extLst>
          </p:cNvPr>
          <p:cNvSpPr txBox="1"/>
          <p:nvPr/>
        </p:nvSpPr>
        <p:spPr>
          <a:xfrm>
            <a:off x="76200" y="938610"/>
            <a:ext cx="1217679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1. Text Scam Classifier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Preprocess pasted text (clean, tokenize) and extract TF-IDF + handcrafted features (urgency words, spelling errors, phone numbers)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Classify into: Legitimate / Phishing / Fake Job Offer / Loan Scam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Model trained in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Colab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exported to ONNX for fast inference</a:t>
            </a:r>
          </a:p>
          <a:p>
            <a:pPr lvl="0" rt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2. URL Risk Scanner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Lexical analysis: URL length, IP-based links, hyphens, typosquatting distance from known brands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Reputation check via Google Safe Browsing, VirusTotal, and PhishTank APIs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Combines both into a single weighted risk score (0–100)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3. QR Code Scanner (Image Upload)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Structural check on QR pixel pattern flags suspicious codes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before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decoding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Decodes payload (URL / UPI ID / text) and routes it into Module 1 or 2 — reuses existing logic instead of duplicating it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Integration Layer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rt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All three modules' results merged into one explainable verdict (risk level + plain-language reasoning)</a:t>
            </a:r>
          </a:p>
          <a:p>
            <a:pPr lvl="0" rt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Deployed serverless via AWS Lambda + API Gateway, kept within AWS free-tier limits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0200" y="277667"/>
            <a:ext cx="80370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663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IEEE REFERENCES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0"/>
              </a:lnSpc>
            </a:pPr>
            <a:r>
              <a:rPr dirty="0"/>
              <a:t>DEPARTMENT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*Proprietary</a:t>
            </a:r>
            <a:r>
              <a:rPr spc="-35" dirty="0"/>
              <a:t> </a:t>
            </a:r>
            <a:r>
              <a:rPr dirty="0"/>
              <a:t>material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SILVER</a:t>
            </a:r>
            <a:r>
              <a:rPr spc="-30" dirty="0"/>
              <a:t> </a:t>
            </a:r>
            <a:r>
              <a:rPr dirty="0"/>
              <a:t>OAK</a:t>
            </a:r>
            <a:r>
              <a:rPr spc="-3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10-09-2025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6322F-5A3E-D9E7-CBBF-6B9C4685CC5B}"/>
              </a:ext>
            </a:extLst>
          </p:cNvPr>
          <p:cNvSpPr txBox="1"/>
          <p:nvPr/>
        </p:nvSpPr>
        <p:spPr>
          <a:xfrm>
            <a:off x="342900" y="1407159"/>
            <a:ext cx="118491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1. T. Vidas, E. Owusu, S. Wang, C. Zeng, L. F. Cranor, and N. Christin</a:t>
            </a: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, “</a:t>
            </a:r>
            <a:r>
              <a:rPr lang="en-IN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QRishing</a:t>
            </a: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: The susceptibility of smartphone users to QR code phishing attacks,”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in Financial Cryptography and Data Security: FC 2013 Workshops, Okinawa, Japan, 2013, pp. 52–69,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10.1007/978-3-642-41320-9_4.</a:t>
            </a:r>
            <a:endParaRPr lang="en-IN" sz="1600" dirty="0">
              <a:highlight>
                <a:srgbClr val="C0C0C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R. Lakshmi S., S. G., and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Durgaveni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G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., “SMS scam detection system using ML &amp; NLP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,” International Journal of Engineering Development and Research, vol. 14, no. 2, pp. 423–428, May 2026.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Y. Wang, H. Zhai, C. Wang, Q. Hao, N. A. Cohen, R. Foulger, J. A. Handler, and G. Wang,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“Can you walk me through it? Explainable SMS-phishing detection using LLM-based agents,”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in Proc. 21st USENIX Symposium on Usable Privacy and Security (SOUPS 2025), Seattle, WA, USA, 2025, pp. 37–56. 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V. Sharma, S. Verma, A. Singh, and T. Gupta,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“Detecting phishing in text messages,”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Modern Science and Research Technology, vol. 3, no. 3, pp. 335–340, Mar. 2025,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10.5281/zenodo.15188546. 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5. S.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Vidros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, C. Kolias, G.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Kambourakis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, and L.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Akoglu</a:t>
            </a: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, “Automatic detection of online recruitment frauds: Characteristics, methods, and a public dataset,”</a:t>
            </a:r>
            <a:r>
              <a:rPr lang="en-IN" sz="1600" dirty="0">
                <a:highlight>
                  <a:srgbClr val="C0C0C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Future Internet, vol. 9, no. 1, p. 6, 2017,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10.3390/fi9010006.</a:t>
            </a: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F895-A8DD-22C0-C910-7DDF8F28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304800"/>
            <a:ext cx="4876801" cy="838201"/>
          </a:xfrm>
        </p:spPr>
        <p:txBody>
          <a:bodyPr/>
          <a:lstStyle/>
          <a:p>
            <a:r>
              <a:rPr lang="en-IN" dirty="0"/>
              <a:t>IEEE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F72AA-887A-FC15-C7C8-6F872DB9723D}"/>
              </a:ext>
            </a:extLst>
          </p:cNvPr>
          <p:cNvSpPr txBox="1"/>
          <p:nvPr/>
        </p:nvSpPr>
        <p:spPr>
          <a:xfrm>
            <a:off x="990600" y="1536174"/>
            <a:ext cx="9829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6.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D. Sahoo, C. Liu, and S. C. H. Hoi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, “Malicious URL detection using machine learning: A survey,”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preprint arXiv:1701.07179, 2017. 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7. N. Reyes-Dorta, P. Caballero-Gil, and C. Rosa-Remedios</a:t>
            </a: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, “Detection of malicious URLs using machine learning,”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Wireless Networks, vol. 30, pp. 7543–7560, 2024,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10.1007/s11276-024-03700-w.</a:t>
            </a: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8.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A. Joshi, L. Lloyd, P. Westin, and S.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Seethapathy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“Using lexical features for malicious URL detection—A machine learning approach,”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preprint arXiv:1910.06277, 2019. 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9. P. Sukarno and S. Ngah, </a:t>
            </a: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“A heterogeneous dataset–driven ensemble learning framework for malicious URL detection,”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Advances in Data and Information Systems, vol. 7, no. 1, pp. 334–352, Apr. 2026,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10.59395/ijadis.v7i1.1541. </a:t>
            </a:r>
          </a:p>
          <a:p>
            <a:pPr lvl="0"/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10.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F. Trad and A. Chehab, “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Detecting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quishing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attacks with machine learning techniques through QR code analysis,”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preprint arXiv:2505.03451, 2025.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16849-8D14-CC01-FD4E-BF739DD7198F}"/>
              </a:ext>
            </a:extLst>
          </p:cNvPr>
          <p:cNvSpPr txBox="1"/>
          <p:nvPr/>
        </p:nvSpPr>
        <p:spPr>
          <a:xfrm>
            <a:off x="3352800" y="6245012"/>
            <a:ext cx="5791200" cy="612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800" dirty="0"/>
              <a:t>DEPARTMENT</a:t>
            </a:r>
            <a:r>
              <a:rPr lang="en-US" sz="1800" spc="-45" dirty="0"/>
              <a:t> </a:t>
            </a:r>
            <a:r>
              <a:rPr lang="en-US" sz="1800" dirty="0"/>
              <a:t>OF</a:t>
            </a:r>
            <a:r>
              <a:rPr lang="en-US" sz="1800" spc="-35" dirty="0"/>
              <a:t> </a:t>
            </a:r>
            <a:r>
              <a:rPr lang="en-US" sz="1800" dirty="0"/>
              <a:t>COMPUTER</a:t>
            </a:r>
            <a:r>
              <a:rPr lang="en-US" sz="1800" spc="-30" dirty="0"/>
              <a:t> </a:t>
            </a:r>
            <a:r>
              <a:rPr lang="en-US" sz="1800" spc="-10" dirty="0"/>
              <a:t>ENGINEERING</a:t>
            </a:r>
          </a:p>
          <a:p>
            <a:pPr algn="ctr">
              <a:lnSpc>
                <a:spcPct val="100000"/>
              </a:lnSpc>
            </a:pPr>
            <a:r>
              <a:rPr lang="en-US" sz="1800" spc="-10" dirty="0"/>
              <a:t>*Proprietary</a:t>
            </a:r>
            <a:r>
              <a:rPr lang="en-US" sz="1800" spc="-35" dirty="0"/>
              <a:t> </a:t>
            </a:r>
            <a:r>
              <a:rPr lang="en-US" sz="1800" dirty="0"/>
              <a:t>material</a:t>
            </a:r>
            <a:r>
              <a:rPr lang="en-US" sz="1800" spc="-35" dirty="0"/>
              <a:t> </a:t>
            </a:r>
            <a:r>
              <a:rPr lang="en-US" sz="1800" dirty="0"/>
              <a:t>of</a:t>
            </a:r>
            <a:r>
              <a:rPr lang="en-US" sz="1800" spc="-35" dirty="0"/>
              <a:t> </a:t>
            </a:r>
            <a:r>
              <a:rPr lang="en-US" sz="1800" dirty="0"/>
              <a:t>SILVER</a:t>
            </a:r>
            <a:r>
              <a:rPr lang="en-US" sz="1800" spc="-30" dirty="0"/>
              <a:t> </a:t>
            </a:r>
            <a:r>
              <a:rPr lang="en-US" sz="1800" dirty="0"/>
              <a:t>OAK</a:t>
            </a:r>
            <a:r>
              <a:rPr lang="en-US" sz="1800" spc="-35" dirty="0"/>
              <a:t> </a:t>
            </a:r>
            <a:r>
              <a:rPr lang="en-US" sz="1800" spc="-1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359131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1616</Words>
  <Application>Microsoft Office PowerPoint</Application>
  <PresentationFormat>Widescreen</PresentationFormat>
  <Paragraphs>149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</vt:lpstr>
      <vt:lpstr>Times New Roman</vt:lpstr>
      <vt:lpstr>Office Theme</vt:lpstr>
      <vt:lpstr>PowerPoint Presentation</vt:lpstr>
      <vt:lpstr>Index</vt:lpstr>
      <vt:lpstr>Introduction</vt:lpstr>
      <vt:lpstr>Background and Motivation</vt:lpstr>
      <vt:lpstr>Relevance and Importance</vt:lpstr>
      <vt:lpstr>Literature Review</vt:lpstr>
      <vt:lpstr>Objectives</vt:lpstr>
      <vt:lpstr>Required Tools and Technology</vt:lpstr>
      <vt:lpstr>Method/ Approach</vt:lpstr>
      <vt:lpstr>IEEE REFERENCES</vt:lpstr>
      <vt:lpstr>IEEE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Patel Princy</dc:creator>
  <cp:lastModifiedBy>princy12patel@gmail.com</cp:lastModifiedBy>
  <cp:revision>3</cp:revision>
  <dcterms:created xsi:type="dcterms:W3CDTF">2026-08-07T08:43:42Z</dcterms:created>
  <dcterms:modified xsi:type="dcterms:W3CDTF">2026-09-25T10:12:58Z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2026-08-07T00:00:00Z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2026-08-07T00:00:00Z</vt:filetime>
  </property>
</Properties>
</file>